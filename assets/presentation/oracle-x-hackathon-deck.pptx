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72e6efb7e04e04" /><Relationship Type="http://schemas.openxmlformats.org/officeDocument/2006/relationships/extended-properties" Target="/docProps/app.xml" Id="R73b7ac3f216d4a54" /><Relationship Type="http://schemas.openxmlformats.org/officeDocument/2006/relationships/officeDocument" Target="/ppt/presentation.xml" Id="Rbe97903d2fc94e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fe799df518a40b7"/>
  </p:sldMasterIdLst>
  <p:notesMasterIdLst>
    <p:notesMasterId xmlns:r="http://schemas.openxmlformats.org/officeDocument/2006/relationships" r:id="R1194846ced5c4b68"/>
  </p:notesMasterIdLst>
  <p:sldIdLst>
    <p:sldId xmlns:r="http://schemas.openxmlformats.org/officeDocument/2006/relationships" id="256" r:id="R8506e04481544b37"/>
    <p:sldId xmlns:r="http://schemas.openxmlformats.org/officeDocument/2006/relationships" id="257" r:id="Raa3d8894b1a744e7"/>
    <p:sldId xmlns:r="http://schemas.openxmlformats.org/officeDocument/2006/relationships" id="258" r:id="Ra695d2ca9cf34527"/>
    <p:sldId xmlns:r="http://schemas.openxmlformats.org/officeDocument/2006/relationships" id="259" r:id="Rdd0cb40de6d84a04"/>
    <p:sldId xmlns:r="http://schemas.openxmlformats.org/officeDocument/2006/relationships" id="260" r:id="R665b374840734f8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0089a05c4d54d53" /><Relationship Type="http://schemas.openxmlformats.org/officeDocument/2006/relationships/slideMaster" Target="/ppt/slideMasters/slideMaster1.xml" Id="Rbfe799df518a40b7" /><Relationship Type="http://schemas.openxmlformats.org/officeDocument/2006/relationships/notesMaster" Target="/ppt/notesMasters/notesMaster1.xml" Id="R1194846ced5c4b68" /><Relationship Type="http://schemas.openxmlformats.org/officeDocument/2006/relationships/presProps" Target="/ppt/presProps.xml" Id="R3e08f64991204036" /><Relationship Type="http://schemas.openxmlformats.org/officeDocument/2006/relationships/tableStyles" Target="/ppt/tableStyles.xml" Id="R22c348f686cb4331" /><Relationship Type="http://schemas.openxmlformats.org/officeDocument/2006/relationships/slide" Target="/ppt/slides/slide1.xml" Id="R8506e04481544b37" /><Relationship Type="http://schemas.openxmlformats.org/officeDocument/2006/relationships/slide" Target="/ppt/slides/slide2.xml" Id="Raa3d8894b1a744e7" /><Relationship Type="http://schemas.openxmlformats.org/officeDocument/2006/relationships/slide" Target="/ppt/slides/slide3.xml" Id="Ra695d2ca9cf34527" /><Relationship Type="http://schemas.openxmlformats.org/officeDocument/2006/relationships/slide" Target="/ppt/slides/slide4.xml" Id="Rdd0cb40de6d84a04" /><Relationship Type="http://schemas.openxmlformats.org/officeDocument/2006/relationships/slide" Target="/ppt/slides/slide5.xml" Id="R665b374840734f8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c183f5dfe9245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30d3b0de2343b2" /><Relationship Type="http://schemas.openxmlformats.org/officeDocument/2006/relationships/notesMaster" Target="/ppt/notesMasters/notesMaster1.xml" Id="R101088d36d9d4db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2ef932e739d4d0b" /><Relationship Type="http://schemas.openxmlformats.org/officeDocument/2006/relationships/notesMaster" Target="/ppt/notesMasters/notesMaster1.xml" Id="R2a8bf1e38d894e8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9a87fc331e24e05" /><Relationship Type="http://schemas.openxmlformats.org/officeDocument/2006/relationships/notesMaster" Target="/ppt/notesMasters/notesMaster1.xml" Id="R7d94a665ddf048f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629b7ee031e4071" /><Relationship Type="http://schemas.openxmlformats.org/officeDocument/2006/relationships/notesMaster" Target="/ppt/notesMasters/notesMaster1.xml" Id="Re8dde9c3ec4f409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3b644df0f0443c4" /><Relationship Type="http://schemas.openxmlformats.org/officeDocument/2006/relationships/notesMaster" Target="/ppt/notesMasters/notesMaster1.xml" Id="R620da26560f644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OpenAI-generated ORACLE X project cover, created 2026-09-04.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ORACLE X AGENTS.md and docs/ARCHITECTURE.md.</a:t>
            </a:r>
          </a:p>
          <a:p xmlns:a="http://schemas.openxmlformats.org/drawingml/2006/main">
            <a:r>
              <a:t>- Implemented workflow in backend/app/workflow.py.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ORACLE X trust-boundary and Risk Governor contracts.</a:t>
            </a:r>
          </a:p>
          <a:p xmlns:a="http://schemas.openxmlformats.org/drawingml/2006/main">
            <a:r>
              <a:t>- Verified implementation in backend/app/config.py, workflow.py and store.py.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Verified browser run and tests/test_workflow.py.</a:t>
            </a:r>
          </a:p>
          <a:p xmlns:a="http://schemas.openxmlformats.org/drawingml/2006/main">
            <a:r>
              <a:t>- Replay endpoint: GET /api/runs/{run_id}/replay.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Test result: 7 passed on 2026-09-04.</a:t>
            </a:r>
          </a:p>
          <a:p xmlns:a="http://schemas.openxmlformats.org/drawingml/2006/main">
            <a:r>
              <a:t>- ORACLE X repository implementation and local browser verification.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a35b89df124ea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ffa454432df4a5e" /><Relationship Type="http://schemas.openxmlformats.org/officeDocument/2006/relationships/slideLayout" Target="/ppt/slideLayouts/slideLayout1.xml" Id="R39705bf38d924ef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705bf38d924ef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476fe4775941a0" /><Relationship Type="http://schemas.openxmlformats.org/officeDocument/2006/relationships/image" Target="/ppt/media/image.png" Id="R2bfd546d58ed44bd" /><Relationship Type="http://schemas.openxmlformats.org/officeDocument/2006/relationships/notesSlide" Target="/ppt/notesSlides/notesSlide1.xml" Id="R2c708bc835234b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0cbe16670a4ccd" /><Relationship Type="http://schemas.openxmlformats.org/officeDocument/2006/relationships/notesSlide" Target="/ppt/notesSlides/notesSlide2.xml" Id="Rd02e6ba45f2d479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b6cf3df4f14fbb" /><Relationship Type="http://schemas.openxmlformats.org/officeDocument/2006/relationships/notesSlide" Target="/ppt/notesSlides/notesSlide3.xml" Id="Rf9418d4c2fc0402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deeb9a93c34d77" /><Relationship Type="http://schemas.openxmlformats.org/officeDocument/2006/relationships/notesSlide" Target="/ppt/notesSlides/notesSlide4.xml" Id="Recd0c2ebb1a0471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e65b5100654bf4" /><Relationship Type="http://schemas.openxmlformats.org/officeDocument/2006/relationships/notesSlide" Target="/ppt/notesSlides/notesSlide5.xml" Id="Rcfe04d8b30a34d7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C0D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fd546d58ed44b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4061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C0D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4D88904-1B2A-4A66-9D2D-2D5CC1D2F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D487"/>
                </a:solidFill>
              </a:defRPr>
            </a:pPr>
            <a:r>
              <a:rPr sz="975" b="1">
                <a:solidFill>
                  <a:srgbClr val="66D487"/>
                </a:solidFill>
              </a:rPr>
              <a:t>THE ARCHITECTURAL BET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04996C-4FCE-45D1-B32E-3843D3E20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1F3ED"/>
                </a:solidFill>
              </a:defRPr>
            </a:pPr>
            <a:r>
              <a:rPr sz="2700" b="1">
                <a:solidFill>
                  <a:srgbClr val="F1F3ED"/>
                </a:solidFill>
              </a:rPr>
              <a:t>Models build the case. Software controls the trade.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9F2258-EE87-4337-8AED-034C21E6B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42F"/>
          </a:solidFill>
          <a:ln xmlns:a="http://schemas.openxmlformats.org/drawingml/2006/main" w="9525">
            <a:solidFill>
              <a:srgbClr val="30342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20292E-C9A3-409C-A452-B1C0C435C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989E95"/>
                </a:solidFill>
              </a:defRPr>
            </a:pPr>
            <a:r>
              <a:rPr sz="1650" b="0">
                <a:solidFill>
                  <a:srgbClr val="989E95"/>
                </a:solidFill>
              </a:rPr>
              <a:t>One model should never own both reasoning and execution.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627C86-5565-4EB5-86AF-9BADBB9A0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23241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716"/>
          </a:solidFill>
          <a:ln xmlns:a="http://schemas.openxmlformats.org/drawingml/2006/main" w="9525">
            <a:solidFill>
              <a:srgbClr val="71C4D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A95DD6-1510-4375-A764-99130F61E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05075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1C4D6"/>
                </a:solidFill>
              </a:defRPr>
            </a:pPr>
            <a:r>
              <a:rPr sz="1500" b="1">
                <a:solidFill>
                  <a:srgbClr val="71C4D6"/>
                </a:solidFill>
              </a:rPr>
              <a:t>ATHENA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03B1F8-BA56-4A0C-8E1D-A47A16156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1981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89E95"/>
                </a:solidFill>
              </a:defRPr>
            </a:pPr>
            <a:r>
              <a:rPr sz="1275" b="0">
                <a:solidFill>
                  <a:srgbClr val="989E95"/>
                </a:solidFill>
              </a:rPr>
              <a:t>Thesis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179363-C4C6-4514-901E-435F17983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670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89E95"/>
                </a:solidFill>
              </a:defRPr>
            </a:pPr>
            <a:r>
              <a:rPr sz="1800" b="1">
                <a:solidFill>
                  <a:srgbClr val="989E95"/>
                </a:solidFill>
              </a:rPr>
              <a:t>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B693CB-1EA1-4ED4-AE36-4A68DDDA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333625"/>
            <a:ext cx="23241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716"/>
          </a:solidFill>
          <a:ln xmlns:a="http://schemas.openxmlformats.org/drawingml/2006/main" w="9525">
            <a:solidFill>
              <a:srgbClr val="F0716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270B67-590F-4735-9B2A-BEC3438D8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05075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07167"/>
                </a:solidFill>
              </a:defRPr>
            </a:pPr>
            <a:r>
              <a:rPr sz="1500" b="1">
                <a:solidFill>
                  <a:srgbClr val="F07167"/>
                </a:solidFill>
              </a:rPr>
              <a:t>HADES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6C5C2F-74E2-4D56-AF68-3E53DA32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857500"/>
            <a:ext cx="1981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89E95"/>
                </a:solidFill>
              </a:defRPr>
            </a:pPr>
            <a:r>
              <a:rPr sz="1275" b="0">
                <a:solidFill>
                  <a:srgbClr val="989E95"/>
                </a:solidFill>
              </a:rPr>
              <a:t>Challenge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78A2DD-08B3-440C-B730-840689D5B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670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89E95"/>
                </a:solidFill>
              </a:defRPr>
            </a:pPr>
            <a:r>
              <a:rPr sz="1800" b="1">
                <a:solidFill>
                  <a:srgbClr val="989E95"/>
                </a:solidFill>
              </a:rP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3355C1-42EB-4D8B-9359-B3A1249E4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33625"/>
            <a:ext cx="23241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716"/>
          </a:solidFill>
          <a:ln xmlns:a="http://schemas.openxmlformats.org/drawingml/2006/main" w="9525">
            <a:solidFill>
              <a:srgbClr val="E8B8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96515B-E43C-4A54-A97D-A7AEDC758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05075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8B85F"/>
                </a:solidFill>
              </a:defRPr>
            </a:pPr>
            <a:r>
              <a:rPr sz="1500" b="1">
                <a:solidFill>
                  <a:srgbClr val="E8B85F"/>
                </a:solidFill>
              </a:rPr>
              <a:t>HERMES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55D151-1BA6-4E19-9125-7AED51E7D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57500"/>
            <a:ext cx="1981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89E95"/>
                </a:solidFill>
              </a:defRPr>
            </a:pPr>
            <a:r>
              <a:rPr sz="1275" b="0">
                <a:solidFill>
                  <a:srgbClr val="989E95"/>
                </a:solidFill>
              </a:rPr>
              <a:t>Options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DD2911-7D15-47D5-A99B-06F84C5F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6670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89E95"/>
                </a:solidFill>
              </a:defRPr>
            </a:pPr>
            <a:r>
              <a:rPr sz="1800" b="1">
                <a:solidFill>
                  <a:srgbClr val="989E95"/>
                </a:solidFill>
              </a:rPr>
              <a:t>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BD946E-CCAA-403A-951F-6BB722D36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33625"/>
            <a:ext cx="23241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716"/>
          </a:solidFill>
          <a:ln xmlns:a="http://schemas.openxmlformats.org/drawingml/2006/main" w="9525">
            <a:solidFill>
              <a:srgbClr val="66D48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28DCF8-5E68-49C3-8B0C-4E0B48E47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505075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6D487"/>
                </a:solidFill>
              </a:defRPr>
            </a:pPr>
            <a:r>
              <a:rPr sz="1500" b="1">
                <a:solidFill>
                  <a:srgbClr val="66D487"/>
                </a:solidFill>
              </a:rPr>
              <a:t>MORPHEUS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BA1DED-78BB-4FFE-81B0-009BDEF4D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857500"/>
            <a:ext cx="1981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89E95"/>
                </a:solidFill>
              </a:defRPr>
            </a:pPr>
            <a:r>
              <a:rPr sz="1275" b="0">
                <a:solidFill>
                  <a:srgbClr val="989E95"/>
                </a:solidFill>
              </a:rPr>
              <a:t>Stress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A3680D-7C53-4C91-87AB-C48422077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23241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716"/>
          </a:solidFill>
          <a:ln xmlns:a="http://schemas.openxmlformats.org/drawingml/2006/main" w="9525">
            <a:solidFill>
              <a:srgbClr val="71C4D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F783BA-3311-4D23-B601-9009E7814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24325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1C4D6"/>
                </a:solidFill>
              </a:defRPr>
            </a:pPr>
            <a:r>
              <a:rPr sz="1500" b="1">
                <a:solidFill>
                  <a:srgbClr val="71C4D6"/>
                </a:solidFill>
              </a:rPr>
              <a:t>QUANT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B93913-5E71-4081-BAA5-A781EDFA2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1981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89E95"/>
                </a:solidFill>
              </a:defRPr>
            </a:pPr>
            <a:r>
              <a:rPr sz="1275" b="0">
                <a:solidFill>
                  <a:srgbClr val="989E95"/>
                </a:solidFill>
              </a:rPr>
              <a:t>Exact values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373318-C5DA-4008-8DFF-2855F3C1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2862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89E95"/>
                </a:solidFill>
              </a:defRPr>
            </a:pPr>
            <a:r>
              <a:rPr sz="1800" b="1">
                <a:solidFill>
                  <a:srgbClr val="989E95"/>
                </a:solidFill>
              </a:rPr>
              <a:t>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92E174-4E07-42E7-BD4B-27C6727A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952875"/>
            <a:ext cx="23241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716"/>
          </a:solidFill>
          <a:ln xmlns:a="http://schemas.openxmlformats.org/drawingml/2006/main" w="9525">
            <a:solidFill>
              <a:srgbClr val="E8B85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F218FC-F7C4-40D3-B189-25032039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124325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8B85F"/>
                </a:solidFill>
              </a:defRPr>
            </a:pPr>
            <a:r>
              <a:rPr sz="1500" b="1">
                <a:solidFill>
                  <a:srgbClr val="E8B85F"/>
                </a:solidFill>
              </a:rPr>
              <a:t>GOVERNOR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D36F08-9A30-480D-A651-CEA2AC0EC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476750"/>
            <a:ext cx="1981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89E95"/>
                </a:solidFill>
              </a:defRPr>
            </a:pPr>
            <a:r>
              <a:rPr sz="1275" b="0">
                <a:solidFill>
                  <a:srgbClr val="989E95"/>
                </a:solidFill>
              </a:rPr>
              <a:t>Hard limits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1F9D89-EE0B-4FDF-96EA-4C06C26B2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862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89E95"/>
                </a:solidFill>
              </a:defRPr>
            </a:pPr>
            <a:r>
              <a:rPr sz="1800" b="1">
                <a:solidFill>
                  <a:srgbClr val="989E95"/>
                </a:solidFill>
              </a:rPr>
              <a:t>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78C7F9-DF11-437D-85A2-7920C831E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952875"/>
            <a:ext cx="23241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716"/>
          </a:solidFill>
          <a:ln xmlns:a="http://schemas.openxmlformats.org/drawingml/2006/main" w="9525">
            <a:solidFill>
              <a:srgbClr val="66D48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34A081-6663-44DE-8BF3-36F7D75F9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24325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6D487"/>
                </a:solidFill>
              </a:defRPr>
            </a:pPr>
            <a:r>
              <a:rPr sz="1500" b="1">
                <a:solidFill>
                  <a:srgbClr val="66D487"/>
                </a:solidFill>
              </a:rPr>
              <a:t>GUARD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68E54B-1F43-4EE1-9A58-E15BAD817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76750"/>
            <a:ext cx="1981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89E95"/>
                </a:solidFill>
              </a:defRPr>
            </a:pPr>
            <a:r>
              <a:rPr sz="1275" b="0">
                <a:solidFill>
                  <a:srgbClr val="989E95"/>
                </a:solidFill>
              </a:rPr>
              <a:t>Final check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6F2230-25B9-44FF-8837-2D9A96C5E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2862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89E95"/>
                </a:solidFill>
              </a:defRPr>
            </a:pPr>
            <a:r>
              <a:rPr sz="1800" b="1">
                <a:solidFill>
                  <a:srgbClr val="989E95"/>
                </a:solidFill>
              </a:rPr>
              <a:t>&gt;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87BD48-1F6D-4B84-B784-7D3D8528A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52875"/>
            <a:ext cx="23241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716"/>
          </a:solidFill>
          <a:ln xmlns:a="http://schemas.openxmlformats.org/drawingml/2006/main" w="9525">
            <a:solidFill>
              <a:srgbClr val="F1F3E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6FA35A-0C54-410A-B548-DCD5CB90F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124325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1F3ED"/>
                </a:solidFill>
              </a:defRPr>
            </a:pPr>
            <a:r>
              <a:rPr sz="1500" b="1">
                <a:solidFill>
                  <a:srgbClr val="F1F3ED"/>
                </a:solidFill>
              </a:rPr>
              <a:t>ALPACA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4C5373B-325D-499D-81AD-A6A403DFA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476750"/>
            <a:ext cx="1981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89E95"/>
                </a:solidFill>
              </a:defRPr>
            </a:pPr>
            <a:r>
              <a:rPr sz="1275" b="0">
                <a:solidFill>
                  <a:srgbClr val="989E95"/>
                </a:solidFill>
              </a:rPr>
              <a:t>Paper order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AF6BAD4-7294-4671-9CB1-C60C00993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504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89E95"/>
                </a:solidFill>
              </a:defRPr>
            </a:pPr>
            <a:r>
              <a:rPr sz="1350" b="0">
                <a:solidFill>
                  <a:srgbClr val="989E95"/>
                </a:solidFill>
              </a:rPr>
              <a:t>Advisory intelligence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AD2B6C8-D741-47DB-ADC7-A718FD406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638550"/>
            <a:ext cx="537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6D487"/>
                </a:solidFill>
              </a:defRPr>
            </a:pPr>
            <a:r>
              <a:rPr sz="1350" b="1">
                <a:solidFill>
                  <a:srgbClr val="66D487"/>
                </a:solidFill>
              </a:rPr>
              <a:t>Deterministic authority</a:t>
            </a:r>
          </a:p>
        </p:txBody>
      </p:sp>
    </p:spTree>
    <p:extLst>
      <p:ext uri="{BB962C8B-B14F-4D97-AF65-F5344CB8AC3E}">
        <p14:creationId xmlns:p14="http://schemas.microsoft.com/office/powerpoint/2010/main" val="8300514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C0D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08C3A1-93C2-4AB4-A740-4234F8E80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D487"/>
                </a:solidFill>
              </a:defRPr>
            </a:pPr>
            <a:r>
              <a:rPr sz="975" b="1">
                <a:solidFill>
                  <a:srgbClr val="66D487"/>
                </a:solidFill>
              </a:rPr>
              <a:t>FAIL-CLOSED BY CONSTRUCTION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B39DDA-8D0D-41BB-87E4-4EED81398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1F3ED"/>
                </a:solidFill>
              </a:defRPr>
            </a:pPr>
            <a:r>
              <a:rPr sz="2700" b="1">
                <a:solidFill>
                  <a:srgbClr val="F1F3ED"/>
                </a:solidFill>
              </a:rPr>
              <a:t>A model cannot talk its way around a failed gate.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87921B-3AEA-4656-82EF-9174D4638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42F"/>
          </a:solidFill>
          <a:ln xmlns:a="http://schemas.openxmlformats.org/drawingml/2006/main" w="9525">
            <a:solidFill>
              <a:srgbClr val="30342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C80526-DB09-44AF-BDAF-4F9A85F74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47625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716"/>
          </a:solidFill>
          <a:ln xmlns:a="http://schemas.openxmlformats.org/drawingml/2006/main" w="9525">
            <a:solidFill>
              <a:srgbClr val="30342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216DB5-031D-47FC-912A-193FEA29C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478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1C4D6"/>
                </a:solidFill>
              </a:defRPr>
            </a:pPr>
            <a:r>
              <a:rPr sz="1425" b="1">
                <a:solidFill>
                  <a:srgbClr val="71C4D6"/>
                </a:solidFill>
              </a:rPr>
              <a:t>AI MAY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C9E0E3-C8A2-48B5-988E-F42B0C264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24125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1F3ED"/>
                </a:solidFill>
              </a:defRPr>
            </a:pPr>
            <a:r>
              <a:rPr sz="1425" b="0">
                <a:solidFill>
                  <a:srgbClr val="F1F3ED"/>
                </a:solidFill>
              </a:rPr>
              <a:t>+  Interpret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73553A-FCAB-4C6E-B23A-C52237A04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57525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1F3ED"/>
                </a:solidFill>
              </a:defRPr>
            </a:pPr>
            <a:r>
              <a:rPr sz="1425" b="0">
                <a:solidFill>
                  <a:srgbClr val="F1F3ED"/>
                </a:solidFill>
              </a:rPr>
              <a:t>+  Challenge assumptions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A74942-3007-4F53-9E9C-2969B4D3A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90925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1F3ED"/>
                </a:solidFill>
              </a:defRPr>
            </a:pPr>
            <a:r>
              <a:rPr sz="1425" b="0">
                <a:solidFill>
                  <a:srgbClr val="F1F3ED"/>
                </a:solidFill>
              </a:rPr>
              <a:t>+  Recommend a strategy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5755D3-521E-499B-AC08-93F82D61E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24325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1F3ED"/>
                </a:solidFill>
              </a:defRPr>
            </a:pPr>
            <a:r>
              <a:rPr sz="1425" b="0">
                <a:solidFill>
                  <a:srgbClr val="F1F3ED"/>
                </a:solidFill>
              </a:rPr>
              <a:t>+  Explain deterministic results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A5F418-F306-44A8-B35A-61861FF39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00625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7167"/>
                </a:solidFill>
              </a:defRPr>
            </a:pPr>
            <a:r>
              <a:rPr sz="1350" b="1">
                <a:solidFill>
                  <a:srgbClr val="F07167"/>
                </a:solidFill>
              </a:rPr>
              <a:t>No broker credentials. No order tools.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FBBB38-E1E2-4717-9175-81D534AD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762125"/>
            <a:ext cx="56483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913"/>
          </a:solidFill>
          <a:ln xmlns:a="http://schemas.openxmlformats.org/drawingml/2006/main" w="9525">
            <a:solidFill>
              <a:srgbClr val="66D48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8C3AA6-E74A-4E06-B634-6FD0E77FF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04787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6D487"/>
                </a:solidFill>
              </a:defRPr>
            </a:pPr>
            <a:r>
              <a:rPr sz="1425" b="1">
                <a:solidFill>
                  <a:srgbClr val="66D487"/>
                </a:solidFill>
              </a:rPr>
              <a:t>SOFTWARE MUST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CBB214-035E-415C-B464-30ADA347B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4765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1F3ED"/>
                </a:solidFill>
              </a:defRPr>
            </a:pPr>
            <a:r>
              <a:rPr sz="1350" b="0">
                <a:solidFill>
                  <a:srgbClr val="F1F3ED"/>
                </a:solidFill>
              </a:rPr>
              <a:t>01  Recalculate price, spread and max loss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D039D1-7FA6-4DBD-8491-F370A3498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0037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1F3ED"/>
                </a:solidFill>
              </a:defRPr>
            </a:pPr>
            <a:r>
              <a:rPr sz="1350" b="0">
                <a:solidFill>
                  <a:srgbClr val="F1F3ED"/>
                </a:solidFill>
              </a:rPr>
              <a:t>02  Enforce paper mode and kill switch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58D886-F382-4CD1-AE70-90A031E59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5242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1F3ED"/>
                </a:solidFill>
              </a:defRPr>
            </a:pPr>
            <a:r>
              <a:rPr sz="1350" b="0">
                <a:solidFill>
                  <a:srgbClr val="F1F3ED"/>
                </a:solidFill>
              </a:rPr>
              <a:t>03  Expire approvals and freeze strategy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CBEE47-B3E0-4401-B2F6-5823F8EE2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481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1F3ED"/>
                </a:solidFill>
              </a:defRPr>
            </a:pPr>
            <a:r>
              <a:rPr sz="1350" b="0">
                <a:solidFill>
                  <a:srgbClr val="F1F3ED"/>
                </a:solidFill>
              </a:rPr>
              <a:t>04  Reserve idempotency before submission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52E366-7D04-46CA-AEF1-27062FE86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5720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1F3ED"/>
                </a:solidFill>
              </a:defRPr>
            </a:pPr>
            <a:r>
              <a:rPr sz="1350" b="0">
                <a:solidFill>
                  <a:srgbClr val="F1F3ED"/>
                </a:solidFill>
              </a:rPr>
              <a:t>05  Append every decision to replay</a:t>
            </a:r>
          </a:p>
        </p:txBody>
      </p:sp>
    </p:spTree>
    <p:extLst>
      <p:ext uri="{BB962C8B-B14F-4D97-AF65-F5344CB8AC3E}">
        <p14:creationId xmlns:p14="http://schemas.microsoft.com/office/powerpoint/2010/main" val="14760231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C0D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A32B45F-9213-4107-9E58-B6618F35F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D487"/>
                </a:solidFill>
              </a:defRPr>
            </a:pPr>
            <a:r>
              <a:rPr sz="975" b="1">
                <a:solidFill>
                  <a:srgbClr val="66D487"/>
                </a:solidFill>
              </a:rPr>
              <a:t>WHY DID THIS TRADE HAPPEN?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F40EF0-3FF9-445B-A8D2-66EAEF8F2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1F3ED"/>
                </a:solidFill>
              </a:defRPr>
            </a:pPr>
            <a:r>
              <a:rPr sz="2700" b="1">
                <a:solidFill>
                  <a:srgbClr val="F1F3ED"/>
                </a:solidFill>
              </a:rPr>
              <a:t>Every decision leaves a reconstructable trail.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E6264D-920A-4BE1-BE45-4741C8871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42F"/>
          </a:solidFill>
          <a:ln xmlns:a="http://schemas.openxmlformats.org/drawingml/2006/main" w="9525">
            <a:solidFill>
              <a:srgbClr val="30342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56D067-27CF-46D4-8B29-7C7EACDBF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95625"/>
            <a:ext cx="1014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42F"/>
          </a:solidFill>
          <a:ln xmlns:a="http://schemas.openxmlformats.org/drawingml/2006/main" w="9525">
            <a:solidFill>
              <a:srgbClr val="30342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9189A8-145C-4E53-A97F-16CD2D888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76550"/>
            <a:ext cx="4762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51716"/>
          </a:solidFill>
          <a:ln xmlns:a="http://schemas.openxmlformats.org/drawingml/2006/main" w="9525">
            <a:solidFill>
              <a:srgbClr val="71C4D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C88E5E-3C7C-4710-AAA7-A92911703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622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1C4D6"/>
                </a:solidFill>
              </a:defRPr>
            </a:pPr>
            <a:r>
              <a:rPr sz="1350" b="1">
                <a:solidFill>
                  <a:srgbClr val="71C4D6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1F6FED-6A38-4037-8CAA-60EA5D25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242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1F3ED"/>
                </a:solidFill>
              </a:defRPr>
            </a:pPr>
            <a:r>
              <a:rPr sz="1125" b="1">
                <a:solidFill>
                  <a:srgbClr val="F1F3ED"/>
                </a:solidFill>
              </a:rPr>
              <a:t>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F48AA2-8A25-463C-81C6-C3F2D3357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76550"/>
            <a:ext cx="4762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51716"/>
          </a:solidFill>
          <a:ln xmlns:a="http://schemas.openxmlformats.org/drawingml/2006/main" w="9525">
            <a:solidFill>
              <a:srgbClr val="71C4D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07EF68-2956-46EF-8928-B60807C4E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9622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1C4D6"/>
                </a:solidFill>
              </a:defRPr>
            </a:pPr>
            <a:r>
              <a:rPr sz="1350" b="1">
                <a:solidFill>
                  <a:srgbClr val="71C4D6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F0326E-0582-43BC-90DE-1247F0D26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5242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1F3ED"/>
                </a:solidFill>
              </a:defRPr>
            </a:pPr>
            <a:r>
              <a:rPr sz="1125" b="1">
                <a:solidFill>
                  <a:srgbClr val="F1F3ED"/>
                </a:solidFill>
              </a:rPr>
              <a:t>ATHENA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3E4BA8-8031-49AC-A8C1-03D0FD0C6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76550"/>
            <a:ext cx="4762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51716"/>
          </a:solidFill>
          <a:ln xmlns:a="http://schemas.openxmlformats.org/drawingml/2006/main" w="9525">
            <a:solidFill>
              <a:srgbClr val="71C4D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05BCB9-42F1-45CE-A7BB-9722CE5DF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622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1C4D6"/>
                </a:solidFill>
              </a:defRPr>
            </a:pPr>
            <a:r>
              <a:rPr sz="1350" b="1">
                <a:solidFill>
                  <a:srgbClr val="71C4D6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8049BB-718D-46DE-9EC8-714097B0B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5242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1F3ED"/>
                </a:solidFill>
              </a:defRPr>
            </a:pPr>
            <a:r>
              <a:rPr sz="1125" b="1">
                <a:solidFill>
                  <a:srgbClr val="F1F3ED"/>
                </a:solidFill>
              </a:rPr>
              <a:t>HADES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75CD04-7071-4B8B-97AF-CC446B6AA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876550"/>
            <a:ext cx="4762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51716"/>
          </a:solidFill>
          <a:ln xmlns:a="http://schemas.openxmlformats.org/drawingml/2006/main" w="9525">
            <a:solidFill>
              <a:srgbClr val="71C4D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9D7B6E-1A2D-4A64-9B11-7FF0F0961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9622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1C4D6"/>
                </a:solidFill>
              </a:defRPr>
            </a:pPr>
            <a:r>
              <a:rPr sz="1350" b="1">
                <a:solidFill>
                  <a:srgbClr val="71C4D6"/>
                </a:solidFill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2E1447-9679-43BD-8AB5-5E0C78063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5242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1F3ED"/>
                </a:solidFill>
              </a:defRPr>
            </a:pPr>
            <a:r>
              <a:rPr sz="1125" b="1">
                <a:solidFill>
                  <a:srgbClr val="F1F3ED"/>
                </a:solidFill>
              </a:rPr>
              <a:t>HERMES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C25B05-10BE-41F1-9445-5E91E97D9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76550"/>
            <a:ext cx="4762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51716"/>
          </a:solidFill>
          <a:ln xmlns:a="http://schemas.openxmlformats.org/drawingml/2006/main" w="9525">
            <a:solidFill>
              <a:srgbClr val="71C4D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B70544-A17D-4AE0-BF4F-535B0EE23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622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1C4D6"/>
                </a:solidFill>
              </a:defRPr>
            </a:pPr>
            <a:r>
              <a:rPr sz="1350" b="1">
                <a:solidFill>
                  <a:srgbClr val="71C4D6"/>
                </a:solidFill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7B37DC-A0C6-4804-A015-BB484DC5E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242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1F3ED"/>
                </a:solidFill>
              </a:defRPr>
            </a:pPr>
            <a:r>
              <a:rPr sz="1125" b="1">
                <a:solidFill>
                  <a:srgbClr val="F1F3ED"/>
                </a:solidFill>
              </a:rPr>
              <a:t>MORPHEUS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1000A7-1E21-41A6-9AD1-28D72D038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876550"/>
            <a:ext cx="4762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73622"/>
          </a:solidFill>
          <a:ln xmlns:a="http://schemas.openxmlformats.org/drawingml/2006/main" w="9525">
            <a:solidFill>
              <a:srgbClr val="66D48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F1B4FD-A04A-4376-AB9B-D62B3D059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9622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6D487"/>
                </a:solidFill>
              </a:defRPr>
            </a:pPr>
            <a:r>
              <a:rPr sz="1350" b="1">
                <a:solidFill>
                  <a:srgbClr val="66D487"/>
                </a:solidFill>
              </a:rPr>
              <a:t>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C1517E-CDC6-43AD-AE22-FF0D8897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5242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1F3ED"/>
                </a:solidFill>
              </a:defRPr>
            </a:pPr>
            <a:r>
              <a:rPr sz="1125" b="1">
                <a:solidFill>
                  <a:srgbClr val="F1F3ED"/>
                </a:solidFill>
              </a:rPr>
              <a:t>RISK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97DB69-4E8E-434D-8ADB-FA78F66B9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76550"/>
            <a:ext cx="4762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73622"/>
          </a:solidFill>
          <a:ln xmlns:a="http://schemas.openxmlformats.org/drawingml/2006/main" w="9525">
            <a:solidFill>
              <a:srgbClr val="66D48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FB7038-7FD3-4C9F-907E-2F727F1A6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622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6D487"/>
                </a:solidFill>
              </a:defRPr>
            </a:pPr>
            <a:r>
              <a:rPr sz="1350" b="1">
                <a:solidFill>
                  <a:srgbClr val="66D487"/>
                </a:solidFill>
              </a:rPr>
              <a:t>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BCA7BD-96AC-462B-9CD3-1D5AE5F3A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242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1F3ED"/>
                </a:solidFill>
              </a:defRPr>
            </a:pPr>
            <a:r>
              <a:rPr sz="1125" b="1">
                <a:solidFill>
                  <a:srgbClr val="F1F3ED"/>
                </a:solidFill>
              </a:rPr>
              <a:t>GUARD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109A4D-568E-429A-8864-BD719E1AB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876550"/>
            <a:ext cx="4762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73622"/>
          </a:solidFill>
          <a:ln xmlns:a="http://schemas.openxmlformats.org/drawingml/2006/main" w="9525">
            <a:solidFill>
              <a:srgbClr val="66D48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1CC042-46DA-4496-8EA0-C8414F97E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9622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6D487"/>
                </a:solidFill>
              </a:defRPr>
            </a:pPr>
            <a:r>
              <a:rPr sz="1350" b="1">
                <a:solidFill>
                  <a:srgbClr val="66D487"/>
                </a:solidFill>
              </a:rPr>
              <a:t>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B6E01A-6524-4867-9F1B-C808F8ED5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35242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1F3ED"/>
                </a:solidFill>
              </a:defRPr>
            </a:pPr>
            <a:r>
              <a:rPr sz="1125" b="1">
                <a:solidFill>
                  <a:srgbClr val="F1F3ED"/>
                </a:solidFill>
              </a:rPr>
              <a:t>ORDER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4CAAE2-DF18-4388-A5A4-972C1896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171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66D487"/>
                </a:solidFill>
              </a:defRPr>
            </a:pPr>
            <a:r>
              <a:rPr sz="4650" b="1">
                <a:solidFill>
                  <a:srgbClr val="66D487"/>
                </a:solidFill>
              </a:rPr>
              <a:t>18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9EC6FC-5FAD-4AD6-AADC-74F395EFC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810125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1F3ED"/>
                </a:solidFill>
              </a:defRPr>
            </a:pPr>
            <a:r>
              <a:rPr sz="1650" b="0">
                <a:solidFill>
                  <a:srgbClr val="F1F3ED"/>
                </a:solidFill>
              </a:rPr>
              <a:t>events in the verified demo replay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6B9C3B-9EFD-4DBD-B995-BE3D979C3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1012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989E95"/>
                </a:solidFill>
              </a:defRPr>
            </a:pPr>
            <a:r>
              <a:rPr sz="1500" b="0">
                <a:solidFill>
                  <a:srgbClr val="989E95"/>
                </a:solidFill>
              </a:rPr>
              <a:t>Append-only storage rejects update and delete attempts.</a:t>
            </a:r>
          </a:p>
        </p:txBody>
      </p:sp>
    </p:spTree>
    <p:extLst>
      <p:ext uri="{BB962C8B-B14F-4D97-AF65-F5344CB8AC3E}">
        <p14:creationId xmlns:p14="http://schemas.microsoft.com/office/powerpoint/2010/main" val="12253312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C0D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C04748-F179-4CE6-B61E-E159CEA6E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D487"/>
                </a:solidFill>
              </a:defRPr>
            </a:pPr>
            <a:r>
              <a:rPr sz="975" b="1">
                <a:solidFill>
                  <a:srgbClr val="66D487"/>
                </a:solidFill>
              </a:rPr>
              <a:t>SUBMISSION BUILD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390A4E-D402-4613-AB98-D296E8BA3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666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1F3ED"/>
                </a:solidFill>
              </a:defRPr>
            </a:pPr>
            <a:r>
              <a:rPr sz="3600" b="1">
                <a:solidFill>
                  <a:srgbClr val="F1F3ED"/>
                </a:solidFill>
              </a:rPr>
              <a:t>A working options committee,</a:t>
            </a:r>
          </a:p>
          <a:p xmlns:a="http://schemas.openxmlformats.org/drawingml/2006/main">
            <a:pPr algn="l">
              <a:defRPr sz="3600" b="1">
                <a:solidFill>
                  <a:srgbClr val="F1F3ED"/>
                </a:solidFill>
              </a:defRPr>
            </a:pPr>
            <a:r>
              <a:rPr sz="3600" b="1">
                <a:solidFill>
                  <a:srgbClr val="F1F3ED"/>
                </a:solidFill>
              </a:rPr>
              <a:t>not a trading chatbot.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945FD5-BA27-46ED-B3F5-B5F080CF3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E8B85F"/>
                </a:solidFill>
              </a:defRPr>
            </a:pPr>
            <a:r>
              <a:rPr sz="3450" b="1">
                <a:solidFill>
                  <a:srgbClr val="E8B85F"/>
                </a:solidFill>
              </a:rPr>
              <a:t>7 / 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3E4D29-B74C-45CC-8593-83323997D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89E95"/>
                </a:solidFill>
              </a:defRPr>
            </a:pPr>
            <a:r>
              <a:rPr sz="1050" b="1">
                <a:solidFill>
                  <a:srgbClr val="989E95"/>
                </a:solidFill>
              </a:rPr>
              <a:t>SAFETY TESTS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1D5039-0BC6-4121-82F5-65BF643B1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5750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E8B85F"/>
                </a:solidFill>
              </a:defRPr>
            </a:pPr>
            <a:r>
              <a:rPr sz="3450" b="1">
                <a:solidFill>
                  <a:srgbClr val="E8B85F"/>
                </a:solidFill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25614D-52F2-4FD9-8795-F1AF6DB67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4480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89E95"/>
                </a:solidFill>
              </a:defRPr>
            </a:pPr>
            <a:r>
              <a:rPr sz="1050" b="1">
                <a:solidFill>
                  <a:srgbClr val="989E95"/>
                </a:solidFill>
              </a:rPr>
              <a:t>REPLAY EVENTS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2FB49D-DF94-4E89-82E3-BEE651883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85750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6D487"/>
                </a:solidFill>
              </a:defRPr>
            </a:pPr>
            <a:r>
              <a:rPr sz="3450" b="1">
                <a:solidFill>
                  <a:srgbClr val="66D487"/>
                </a:solidFill>
              </a:rPr>
              <a:t>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1B485A-331E-4E23-9C12-B0E6743EA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4480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89E95"/>
                </a:solidFill>
              </a:defRPr>
            </a:pPr>
            <a:r>
              <a:rPr sz="1050" b="1">
                <a:solidFill>
                  <a:srgbClr val="989E95"/>
                </a:solidFill>
              </a:rPr>
              <a:t>LIVE ENDPOINTS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F5CCFC-1BCA-4B89-A016-0BBBDCBE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000125"/>
            <a:ext cx="36957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913"/>
          </a:solidFill>
          <a:ln xmlns:a="http://schemas.openxmlformats.org/drawingml/2006/main" w="9525">
            <a:solidFill>
              <a:srgbClr val="66D48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84DF09-D21F-4519-9711-95D2B5F26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333500"/>
            <a:ext cx="3124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66D487"/>
                </a:solidFill>
              </a:defRPr>
            </a:pPr>
            <a:r>
              <a:rPr sz="1725" b="1">
                <a:solidFill>
                  <a:srgbClr val="66D487"/>
                </a:solidFill>
              </a:rPr>
              <a:t>READY TO JUDGE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D5E80A-B03E-4F74-8DF5-823245884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5262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1F3ED"/>
                </a:solidFill>
              </a:defRPr>
            </a:pPr>
            <a:r>
              <a:rPr sz="1275" b="0">
                <a:solidFill>
                  <a:srgbClr val="F1F3ED"/>
                </a:solidFill>
              </a:rPr>
              <a:t>+  Four typed agent contracts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066B11-77A7-47EF-859F-05179D067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7172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1F3ED"/>
                </a:solidFill>
              </a:defRPr>
            </a:pPr>
            <a:r>
              <a:rPr sz="1275" b="0">
                <a:solidFill>
                  <a:srgbClr val="F1F3ED"/>
                </a:solidFill>
              </a:rPr>
              <a:t>+  Real sponsor adapters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0781D4-34CF-4D7F-8C31-029F8998D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9082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1F3ED"/>
                </a:solidFill>
              </a:defRPr>
            </a:pPr>
            <a:r>
              <a:rPr sz="1275" b="0">
                <a:solidFill>
                  <a:srgbClr val="F1F3ED"/>
                </a:solidFill>
              </a:rPr>
              <a:t>+  Deterministic Risk Governor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7748E9-339E-4D9D-83A9-40483371A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0992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1F3ED"/>
                </a:solidFill>
              </a:defRPr>
            </a:pPr>
            <a:r>
              <a:rPr sz="1275" b="0">
                <a:solidFill>
                  <a:srgbClr val="F1F3ED"/>
                </a:solidFill>
              </a:rPr>
              <a:t>+  Final Execution Guard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01F23F-38AA-4E2F-80E7-3FC1C3AC4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2902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1F3ED"/>
                </a:solidFill>
              </a:defRPr>
            </a:pPr>
            <a:r>
              <a:rPr sz="1275" b="0">
                <a:solidFill>
                  <a:srgbClr val="F1F3ED"/>
                </a:solidFill>
              </a:rPr>
              <a:t>+  Paper-only order boundary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3B5F77-5C16-4AD9-8998-29B607CD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4812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1F3ED"/>
                </a:solidFill>
              </a:defRPr>
            </a:pPr>
            <a:r>
              <a:rPr sz="1275" b="0">
                <a:solidFill>
                  <a:srgbClr val="F1F3ED"/>
                </a:solidFill>
              </a:rPr>
              <a:t>+  Responsive War Room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1DE6E0-918D-4530-A581-2928C169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6D487"/>
                </a:solidFill>
              </a:defRPr>
            </a:pPr>
            <a:r>
              <a:rPr sz="2100" b="1">
                <a:solidFill>
                  <a:srgbClr val="66D487"/>
                </a:solidFill>
              </a:rPr>
              <a:t>ORACLE 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A422B5-29AF-49D2-89C0-625FC574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810250"/>
            <a:ext cx="37433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989E95"/>
                </a:solidFill>
              </a:defRPr>
            </a:pPr>
            <a:r>
              <a:rPr sz="1500" b="0">
                <a:solidFill>
                  <a:srgbClr val="989E95"/>
                </a:solidFill>
              </a:rPr>
              <a:t>AI reasons. Software governs.</a:t>
            </a:r>
          </a:p>
        </p:txBody>
      </p:sp>
    </p:spTree>
    <p:extLst>
      <p:ext uri="{BB962C8B-B14F-4D97-AF65-F5344CB8AC3E}">
        <p14:creationId xmlns:p14="http://schemas.microsoft.com/office/powerpoint/2010/main" val="3677629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2026-09-03T22:15:18.2050000Z</dcterms:created>
  <dcterms:modified xsi:type="dcterms:W3CDTF">2026-09-03T22:15:18.2050000Z</dcterms:modified>
</coreProperties>
</file>